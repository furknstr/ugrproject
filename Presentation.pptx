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Open Sauce" panose="020B0604020202020204" charset="-94"/>
      <p:regular r:id="rId14"/>
    </p:embeddedFont>
    <p:embeddedFont>
      <p:font typeface="Open Sauce Bold" panose="020B0604020202020204" charset="-9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33450" y="2696608"/>
            <a:ext cx="12534801" cy="3386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3040" spc="-78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AI Automated booking assistant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985252" y="8467794"/>
            <a:ext cx="4560684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00"/>
              </a:lnSpc>
              <a:spcBef>
                <a:spcPct val="0"/>
              </a:spcBef>
            </a:pPr>
            <a:r>
              <a:rPr lang="en-US" sz="2400" b="1" spc="24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FURKAN SATIR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057275"/>
            <a:ext cx="4560684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sz="1800" b="1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united global roro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860684"/>
            <a:ext cx="1050505" cy="1263766"/>
          </a:xfrm>
          <a:custGeom>
            <a:avLst/>
            <a:gdLst/>
            <a:ahLst/>
            <a:cxnLst/>
            <a:rect l="l" t="t" r="r" b="b"/>
            <a:pathLst>
              <a:path w="1050505" h="1263766">
                <a:moveTo>
                  <a:pt x="0" y="0"/>
                </a:moveTo>
                <a:lnTo>
                  <a:pt x="1050505" y="0"/>
                </a:lnTo>
                <a:lnTo>
                  <a:pt x="1050505" y="1263766"/>
                </a:lnTo>
                <a:lnTo>
                  <a:pt x="0" y="12637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12949128" y="3365384"/>
            <a:ext cx="811369" cy="1759066"/>
          </a:xfrm>
          <a:custGeom>
            <a:avLst/>
            <a:gdLst/>
            <a:ahLst/>
            <a:cxnLst/>
            <a:rect l="l" t="t" r="r" b="b"/>
            <a:pathLst>
              <a:path w="811369" h="1759066">
                <a:moveTo>
                  <a:pt x="0" y="0"/>
                </a:moveTo>
                <a:lnTo>
                  <a:pt x="811369" y="0"/>
                </a:lnTo>
                <a:lnTo>
                  <a:pt x="811369" y="1759066"/>
                </a:lnTo>
                <a:lnTo>
                  <a:pt x="0" y="17590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>
            <a:off x="6988914" y="3860684"/>
            <a:ext cx="1117351" cy="1151414"/>
          </a:xfrm>
          <a:custGeom>
            <a:avLst/>
            <a:gdLst/>
            <a:ahLst/>
            <a:cxnLst/>
            <a:rect l="l" t="t" r="r" b="b"/>
            <a:pathLst>
              <a:path w="1117351" h="1151414">
                <a:moveTo>
                  <a:pt x="0" y="0"/>
                </a:moveTo>
                <a:lnTo>
                  <a:pt x="1117351" y="0"/>
                </a:lnTo>
                <a:lnTo>
                  <a:pt x="1117351" y="1151414"/>
                </a:lnTo>
                <a:lnTo>
                  <a:pt x="0" y="1151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TextBox 5"/>
          <p:cNvSpPr txBox="1"/>
          <p:nvPr/>
        </p:nvSpPr>
        <p:spPr>
          <a:xfrm>
            <a:off x="1028700" y="1989777"/>
            <a:ext cx="8115300" cy="636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Projeye Genel Bakış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667375"/>
            <a:ext cx="274687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Problem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6425565"/>
            <a:ext cx="4310172" cy="1851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Booking talepleri e-postayla, farklı formatlarda geliyor. Operatör okuyup elle giriyor; bu yavaş ve hataya açık. Güvenlik önemli!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88914" y="5667375"/>
            <a:ext cx="274687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Solution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88914" y="6425565"/>
            <a:ext cx="4310172" cy="222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LLM e-postayı okuyup yapılandırılmış kayda çevirir. Doğrulama ve onay kararını deterministik Python kuralları verir. Sonuç dashboard ve chatbot’ta görünür.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49128" y="5667375"/>
            <a:ext cx="274687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Why It Matters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49128" y="6425565"/>
            <a:ext cx="4310172" cy="14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Eksik veri uydurulmaz, şüpheli talepler işaretlenir. Operatör sıfırdan yazmak yerine yalnızca işaretlenenleri inceler.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98616" y="8984615"/>
            <a:ext cx="456068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057275"/>
            <a:ext cx="2847786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sz="1800" b="1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Giriş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411514" y="1057275"/>
            <a:ext cx="2847786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sz="1800" b="1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Team 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28815" y="1583884"/>
            <a:ext cx="15725223" cy="7446484"/>
          </a:xfrm>
          <a:custGeom>
            <a:avLst/>
            <a:gdLst/>
            <a:ahLst/>
            <a:cxnLst/>
            <a:rect l="l" t="t" r="r" b="b"/>
            <a:pathLst>
              <a:path w="15725223" h="7446484">
                <a:moveTo>
                  <a:pt x="0" y="0"/>
                </a:moveTo>
                <a:lnTo>
                  <a:pt x="15725223" y="0"/>
                </a:lnTo>
                <a:lnTo>
                  <a:pt x="15725223" y="7446485"/>
                </a:lnTo>
                <a:lnTo>
                  <a:pt x="0" y="74464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TextBox 3"/>
          <p:cNvSpPr txBox="1"/>
          <p:nvPr/>
        </p:nvSpPr>
        <p:spPr>
          <a:xfrm>
            <a:off x="12698616" y="8984615"/>
            <a:ext cx="456068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5749" y="514719"/>
            <a:ext cx="8115300" cy="636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Proje Mimarisi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99414" y="0"/>
            <a:ext cx="9412100" cy="15579390"/>
          </a:xfrm>
          <a:custGeom>
            <a:avLst/>
            <a:gdLst/>
            <a:ahLst/>
            <a:cxnLst/>
            <a:rect l="l" t="t" r="r" b="b"/>
            <a:pathLst>
              <a:path w="9412100" h="15579390">
                <a:moveTo>
                  <a:pt x="0" y="0"/>
                </a:moveTo>
                <a:lnTo>
                  <a:pt x="9412100" y="0"/>
                </a:lnTo>
                <a:lnTo>
                  <a:pt x="9412100" y="15579390"/>
                </a:lnTo>
                <a:lnTo>
                  <a:pt x="0" y="155793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7" r="-1303" b="-10619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TextBox 3"/>
          <p:cNvSpPr txBox="1"/>
          <p:nvPr/>
        </p:nvSpPr>
        <p:spPr>
          <a:xfrm>
            <a:off x="12698616" y="8984615"/>
            <a:ext cx="456068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411514" y="1057275"/>
            <a:ext cx="2847786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sz="1800" b="1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Team 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44649" y="-6746217"/>
            <a:ext cx="8626405" cy="16862214"/>
          </a:xfrm>
          <a:custGeom>
            <a:avLst/>
            <a:gdLst/>
            <a:ahLst/>
            <a:cxnLst/>
            <a:rect l="l" t="t" r="r" b="b"/>
            <a:pathLst>
              <a:path w="8626405" h="16862214">
                <a:moveTo>
                  <a:pt x="0" y="0"/>
                </a:moveTo>
                <a:lnTo>
                  <a:pt x="8626405" y="0"/>
                </a:lnTo>
                <a:lnTo>
                  <a:pt x="8626405" y="16862214"/>
                </a:lnTo>
                <a:lnTo>
                  <a:pt x="0" y="168622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34" r="-4768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TextBox 3"/>
          <p:cNvSpPr txBox="1"/>
          <p:nvPr/>
        </p:nvSpPr>
        <p:spPr>
          <a:xfrm>
            <a:off x="12698616" y="8984615"/>
            <a:ext cx="456068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58622" y="3740175"/>
            <a:ext cx="18861910" cy="2611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23"/>
              </a:lnSpc>
            </a:pPr>
            <a:r>
              <a:rPr lang="en-US" sz="19623" spc="-1177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0"/>
            <a:ext cx="9144000" cy="10287000"/>
          </a:xfrm>
          <a:custGeom>
            <a:avLst/>
            <a:gdLst/>
            <a:ahLst/>
            <a:cxnLst/>
            <a:rect l="l" t="t" r="r" b="b"/>
            <a:pathLst>
              <a:path w="9144000" h="10287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211" r="-50327"/>
            </a:stretch>
          </a:blipFill>
        </p:spPr>
        <p:txBody>
          <a:bodyPr/>
          <a:lstStyle/>
          <a:p>
            <a:endParaRPr lang="tr-TR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592680" y="2149005"/>
          <a:ext cx="7766394" cy="5652750"/>
        </p:xfrm>
        <a:graphic>
          <a:graphicData uri="http://schemas.openxmlformats.org/drawingml/2006/table">
            <a:tbl>
              <a:tblPr/>
              <a:tblGrid>
                <a:gridCol w="38831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31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16321"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Ölçü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Sonuç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193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Hazır kümesi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9/9, 0 yanlış onay</a:t>
                      </a:r>
                      <a:endParaRPr lang="en-US" sz="1100"/>
                    </a:p>
                    <a:p>
                      <a:pPr algn="ctr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No False Positive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1118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Katı golden eşleşme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14/34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1118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Uyarı farkı tolere edilirse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23/34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803103" y="758190"/>
            <a:ext cx="8115300" cy="636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Sonuçlar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476250"/>
            <a:ext cx="18288000" cy="7614470"/>
            <a:chOff x="0" y="0"/>
            <a:chExt cx="1811948" cy="754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11948" cy="754430"/>
            </a:xfrm>
            <a:custGeom>
              <a:avLst/>
              <a:gdLst/>
              <a:ahLst/>
              <a:cxnLst/>
              <a:rect l="l" t="t" r="r" b="b"/>
              <a:pathLst>
                <a:path w="1811948" h="754430">
                  <a:moveTo>
                    <a:pt x="1811948" y="0"/>
                  </a:moveTo>
                  <a:lnTo>
                    <a:pt x="1811948" y="640130"/>
                  </a:lnTo>
                  <a:lnTo>
                    <a:pt x="905974" y="754430"/>
                  </a:lnTo>
                  <a:lnTo>
                    <a:pt x="0" y="640130"/>
                  </a:lnTo>
                  <a:lnTo>
                    <a:pt x="0" y="0"/>
                  </a:lnTo>
                  <a:lnTo>
                    <a:pt x="1811948" y="0"/>
                  </a:lnTo>
                  <a:close/>
                </a:path>
              </a:pathLst>
            </a:custGeom>
            <a:solidFill>
              <a:srgbClr val="FAF7F0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11948" cy="6877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10034" y="392430"/>
            <a:ext cx="8115300" cy="636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Neler eksik?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436498" y="1028700"/>
          <a:ext cx="17851503" cy="9182101"/>
        </p:xfrm>
        <a:graphic>
          <a:graphicData uri="http://schemas.openxmlformats.org/drawingml/2006/table">
            <a:tbl>
              <a:tblPr/>
              <a:tblGrid>
                <a:gridCol w="407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8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97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97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80810"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Ne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Neden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Olası Çözüm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1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Örnek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9044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Düzeltme E-postasını Güncelleme Olarak Yakalayamamak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Model sınırı, model konuşma bağlamını kaçırdı.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Few-shot/Daha güçlü 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“Correction: please update date to 15.10.2026”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509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Yetim Güncellemeleri Bulanık (Fuzzy) Eşleştirememek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Sistem yalnızca tam referans eşleşmesi arıyor. Eşleşme bulamayınca kaydı doğrudan ORPHAN (yetim) statüsüne atıp bırakıyor.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Müşteri ve tarih penceresi üzerinden aday rezervasyonları puanlayan bir Fuzzy Matcher yazılarak operatöre öneri sunulabilir.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"Lütfen dünkü rezervasyonumuzun yükleme tarihini değiştirin”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2067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Ek Dosyaların İçeriğini Okuyamamak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Sistemimizde bir OCR veya PDF/Excel ayrıştırıcı pipeline yok.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Boru hattının başına pypdf veya multimodal bir LLM  eklenerek ek dosyalar metne dökülür.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“Please find attached our booking request and VIN list”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509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Yeni veya Bilinmeyen Domainden Gelen Gerçek Müşteriler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Kodda yer alan gönderen/müşteri uyuşmazlığı kuralı yüzünden doğrudan şüpheli sayar.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Müşterilerinin şahsi maili de şirketin iletişim kişileri listesine eklenebilir veya şirket domainli maile doğrulama kodu gidebilir.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Sistemde kayıtlı ABC Shipping firmasının yetkilisi şirket domaini yerine başka uzantılı adresten talep gönderdiğinde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1096" y="1669789"/>
            <a:ext cx="1706721" cy="1733445"/>
          </a:xfrm>
          <a:custGeom>
            <a:avLst/>
            <a:gdLst/>
            <a:ahLst/>
            <a:cxnLst/>
            <a:rect l="l" t="t" r="r" b="b"/>
            <a:pathLst>
              <a:path w="1706721" h="1733445">
                <a:moveTo>
                  <a:pt x="0" y="0"/>
                </a:moveTo>
                <a:lnTo>
                  <a:pt x="1706721" y="0"/>
                </a:lnTo>
                <a:lnTo>
                  <a:pt x="1706721" y="1733445"/>
                </a:lnTo>
                <a:lnTo>
                  <a:pt x="0" y="1733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0" y="7607622"/>
            <a:ext cx="18288000" cy="2679378"/>
          </a:xfrm>
          <a:custGeom>
            <a:avLst/>
            <a:gdLst/>
            <a:ahLst/>
            <a:cxnLst/>
            <a:rect l="l" t="t" r="r" b="b"/>
            <a:pathLst>
              <a:path w="18288000" h="2679378">
                <a:moveTo>
                  <a:pt x="0" y="0"/>
                </a:moveTo>
                <a:lnTo>
                  <a:pt x="18288000" y="0"/>
                </a:lnTo>
                <a:lnTo>
                  <a:pt x="18288000" y="2679378"/>
                </a:lnTo>
                <a:lnTo>
                  <a:pt x="0" y="2679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9715" b="-275315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>
            <a:off x="5206085" y="4189000"/>
            <a:ext cx="1168509" cy="2540236"/>
          </a:xfrm>
          <a:custGeom>
            <a:avLst/>
            <a:gdLst/>
            <a:ahLst/>
            <a:cxnLst/>
            <a:rect l="l" t="t" r="r" b="b"/>
            <a:pathLst>
              <a:path w="1168509" h="2540236">
                <a:moveTo>
                  <a:pt x="0" y="0"/>
                </a:moveTo>
                <a:lnTo>
                  <a:pt x="1168509" y="0"/>
                </a:lnTo>
                <a:lnTo>
                  <a:pt x="1168509" y="2540237"/>
                </a:lnTo>
                <a:lnTo>
                  <a:pt x="0" y="2540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>
            <a:off x="9180063" y="1152117"/>
            <a:ext cx="1451664" cy="2182953"/>
          </a:xfrm>
          <a:custGeom>
            <a:avLst/>
            <a:gdLst/>
            <a:ahLst/>
            <a:cxnLst/>
            <a:rect l="l" t="t" r="r" b="b"/>
            <a:pathLst>
              <a:path w="1451664" h="2182953">
                <a:moveTo>
                  <a:pt x="0" y="0"/>
                </a:moveTo>
                <a:lnTo>
                  <a:pt x="1451663" y="0"/>
                </a:lnTo>
                <a:lnTo>
                  <a:pt x="1451663" y="2182953"/>
                </a:lnTo>
                <a:lnTo>
                  <a:pt x="0" y="21829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TextBox 6"/>
          <p:cNvSpPr txBox="1"/>
          <p:nvPr/>
        </p:nvSpPr>
        <p:spPr>
          <a:xfrm>
            <a:off x="681628" y="653548"/>
            <a:ext cx="8115300" cy="636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AI nerede yardım etti?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698616" y="8984615"/>
            <a:ext cx="456068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411514" y="1057275"/>
            <a:ext cx="2847786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sz="1800" b="1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Team 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67925" y="1740315"/>
            <a:ext cx="205937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Planlama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67925" y="2488887"/>
            <a:ext cx="4355740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Boru hattı tasarımı ve veri modeli beyin fırtınası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38797" y="894869"/>
            <a:ext cx="279265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Veri İnceleme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56150" y="1757180"/>
            <a:ext cx="5152170" cy="14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Golden Set'in analizi, kenar durumların (edge-case) tespiti ve Regex örüntülerinin çıkarılması.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endParaRPr lang="en-US" sz="2100">
              <a:solidFill>
                <a:srgbClr val="331B0D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029877" y="4322222"/>
            <a:ext cx="205937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Kodlama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48927" y="5070793"/>
            <a:ext cx="4355740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iskeletlerin, tekrarlayan Unit Test'lerin ve Streamlit UI üretilmesi.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5164" y="4855292"/>
            <a:ext cx="1868822" cy="2076469"/>
          </a:xfrm>
          <a:custGeom>
            <a:avLst/>
            <a:gdLst/>
            <a:ahLst/>
            <a:cxnLst/>
            <a:rect l="l" t="t" r="r" b="b"/>
            <a:pathLst>
              <a:path w="1868822" h="2076469">
                <a:moveTo>
                  <a:pt x="0" y="0"/>
                </a:moveTo>
                <a:lnTo>
                  <a:pt x="1868822" y="0"/>
                </a:lnTo>
                <a:lnTo>
                  <a:pt x="1868822" y="2076469"/>
                </a:lnTo>
                <a:lnTo>
                  <a:pt x="0" y="20764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14125844" y="4289901"/>
            <a:ext cx="2240536" cy="2358459"/>
          </a:xfrm>
          <a:custGeom>
            <a:avLst/>
            <a:gdLst/>
            <a:ahLst/>
            <a:cxnLst/>
            <a:rect l="l" t="t" r="r" b="b"/>
            <a:pathLst>
              <a:path w="2240536" h="2358459">
                <a:moveTo>
                  <a:pt x="0" y="0"/>
                </a:moveTo>
                <a:lnTo>
                  <a:pt x="2240536" y="0"/>
                </a:lnTo>
                <a:lnTo>
                  <a:pt x="2240536" y="2358459"/>
                </a:lnTo>
                <a:lnTo>
                  <a:pt x="0" y="23584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TextBox 4"/>
          <p:cNvSpPr txBox="1"/>
          <p:nvPr/>
        </p:nvSpPr>
        <p:spPr>
          <a:xfrm>
            <a:off x="855164" y="792377"/>
            <a:ext cx="8115300" cy="1245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Üretimden önce ve bir gün daha olsa ne yapardım?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764629" y="5028022"/>
            <a:ext cx="5512599" cy="169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6"/>
              </a:lnSpc>
            </a:pPr>
            <a:r>
              <a:rPr lang="en-US" sz="242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PostgreSQL, Alembic</a:t>
            </a:r>
          </a:p>
          <a:p>
            <a:pPr algn="l">
              <a:lnSpc>
                <a:spcPts val="3396"/>
              </a:lnSpc>
            </a:pPr>
            <a:r>
              <a:rPr lang="en-US" sz="242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Human in the Loop,</a:t>
            </a:r>
          </a:p>
          <a:p>
            <a:pPr algn="l">
              <a:lnSpc>
                <a:spcPts val="3396"/>
              </a:lnSpc>
            </a:pPr>
            <a:r>
              <a:rPr lang="en-US" sz="242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Daha güçlü model / few-shot</a:t>
            </a:r>
          </a:p>
          <a:p>
            <a:pPr algn="l">
              <a:lnSpc>
                <a:spcPts val="3396"/>
              </a:lnSpc>
              <a:spcBef>
                <a:spcPct val="0"/>
              </a:spcBef>
            </a:pPr>
            <a:r>
              <a:rPr lang="en-US" sz="242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Log ve metrik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764629" y="3655266"/>
            <a:ext cx="3521164" cy="57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12"/>
              </a:lnSpc>
              <a:spcBef>
                <a:spcPct val="0"/>
              </a:spcBef>
            </a:pPr>
            <a:r>
              <a:rPr lang="en-US" sz="3366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Üretimden önce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04893" y="4945323"/>
            <a:ext cx="4232663" cy="2122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6"/>
              </a:lnSpc>
            </a:pPr>
            <a:r>
              <a:rPr lang="en-US" sz="242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Düzenli loglar,</a:t>
            </a:r>
          </a:p>
          <a:p>
            <a:pPr algn="l">
              <a:lnSpc>
                <a:spcPts val="3396"/>
              </a:lnSpc>
            </a:pPr>
            <a:r>
              <a:rPr lang="en-US" sz="242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Containerization,</a:t>
            </a:r>
          </a:p>
          <a:p>
            <a:pPr algn="l">
              <a:lnSpc>
                <a:spcPts val="3396"/>
              </a:lnSpc>
            </a:pPr>
            <a:r>
              <a:rPr lang="en-US" sz="242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Fuzzy eşleştirme,</a:t>
            </a:r>
          </a:p>
          <a:p>
            <a:pPr algn="l">
              <a:lnSpc>
                <a:spcPts val="3396"/>
              </a:lnSpc>
              <a:spcBef>
                <a:spcPct val="0"/>
              </a:spcBef>
            </a:pPr>
            <a:r>
              <a:rPr lang="en-US" sz="242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End to end response time and latency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04893" y="3572567"/>
            <a:ext cx="4232663" cy="57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12"/>
              </a:lnSpc>
              <a:spcBef>
                <a:spcPct val="0"/>
              </a:spcBef>
            </a:pPr>
            <a:r>
              <a:rPr lang="en-US" sz="3366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Bir gün daha olsa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1028700"/>
            <a:ext cx="10910528" cy="173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3040" spc="-782" dirty="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The 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8636" y="4019816"/>
            <a:ext cx="8369035" cy="4963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737" lvl="1" indent="-302369" algn="l">
              <a:lnSpc>
                <a:spcPts val="3921"/>
              </a:lnSpc>
              <a:buFont typeface="Arial"/>
              <a:buChar char="•"/>
            </a:pPr>
            <a:r>
              <a:rPr lang="en-US" sz="2801" b="1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source_emails:</a:t>
            </a:r>
            <a:r>
              <a:rPr lang="en-US" sz="2801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Tüm gelen kutusu (Spam, kopya, yetim dâhil hiçbir veri kaybolmaz).</a:t>
            </a:r>
          </a:p>
          <a:p>
            <a:pPr marL="604737" lvl="1" indent="-302369" algn="l">
              <a:lnSpc>
                <a:spcPts val="3921"/>
              </a:lnSpc>
              <a:buFont typeface="Arial"/>
              <a:buChar char="•"/>
            </a:pPr>
            <a:r>
              <a:rPr lang="en-US" sz="2801" b="1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bookings:</a:t>
            </a:r>
            <a:r>
              <a:rPr lang="en-US" sz="2801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Yalnızca meşru talepler (UNIQUE(email_id, split_index) ile idempotent çift yazma koruması).</a:t>
            </a:r>
          </a:p>
          <a:p>
            <a:pPr marL="604737" lvl="1" indent="-302369" algn="l">
              <a:lnSpc>
                <a:spcPts val="3921"/>
              </a:lnSpc>
              <a:buFont typeface="Arial"/>
              <a:buChar char="•"/>
            </a:pPr>
            <a:r>
              <a:rPr lang="en-US" sz="2801" b="1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booking_events:</a:t>
            </a:r>
            <a:r>
              <a:rPr lang="en-US" sz="2801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CRUD Tarihçesi (Eski/Yeni değer delta JSON).</a:t>
            </a:r>
          </a:p>
          <a:p>
            <a:pPr marL="604737" lvl="1" indent="-302369" algn="l">
              <a:lnSpc>
                <a:spcPts val="3921"/>
              </a:lnSpc>
              <a:buFont typeface="Arial"/>
              <a:buChar char="•"/>
            </a:pPr>
            <a:r>
              <a:rPr lang="en-US" sz="2801" b="1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processing_log:</a:t>
            </a:r>
            <a:r>
              <a:rPr lang="en-US" sz="2801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Guard ve LLM karar günlüğü (Audit Trail).</a:t>
            </a:r>
          </a:p>
          <a:p>
            <a:pPr algn="l">
              <a:lnSpc>
                <a:spcPts val="3921"/>
              </a:lnSpc>
              <a:spcBef>
                <a:spcPct val="0"/>
              </a:spcBef>
            </a:pPr>
            <a:endParaRPr lang="en-US" sz="2801">
              <a:solidFill>
                <a:srgbClr val="331B0D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921380" y="4068121"/>
            <a:ext cx="8501417" cy="451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4304" lvl="1" indent="-307152" algn="l">
              <a:lnSpc>
                <a:spcPts val="3983"/>
              </a:lnSpc>
              <a:buFont typeface="Arial"/>
              <a:buChar char="•"/>
            </a:pPr>
            <a:r>
              <a:rPr lang="en-US" sz="2845" b="1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Deterministik Durum (Statü) Kararı:</a:t>
            </a:r>
          </a:p>
          <a:p>
            <a:pPr marL="614304" lvl="1" indent="-307152" algn="l">
              <a:lnSpc>
                <a:spcPts val="3983"/>
              </a:lnSpc>
              <a:buFont typeface="Arial"/>
              <a:buChar char="•"/>
            </a:pPr>
            <a:r>
              <a:rPr lang="en-US" sz="284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15 Bloklayan Bayrak (Örn: UNKNOWN_PORT, INVALID_DATE, SUSPICIOUS_CONTENT)</a:t>
            </a:r>
          </a:p>
          <a:p>
            <a:pPr marL="614304" lvl="1" indent="-307152" algn="l">
              <a:lnSpc>
                <a:spcPts val="3983"/>
              </a:lnSpc>
              <a:buFont typeface="Arial"/>
              <a:buChar char="•"/>
            </a:pPr>
            <a:r>
              <a:rPr lang="en-US" sz="284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8 Uyarı Bayrağı (Örn: QUANTITY_FROM_VIN_COUNT, NUMBER_NORMALIZED)</a:t>
            </a:r>
          </a:p>
          <a:p>
            <a:pPr marL="614304" lvl="1" indent="-307152" algn="l">
              <a:lnSpc>
                <a:spcPts val="3983"/>
              </a:lnSpc>
              <a:buFont typeface="Arial"/>
              <a:buChar char="•"/>
            </a:pPr>
            <a:r>
              <a:rPr lang="en-US" sz="284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Kural: Bloklayan bayrak sayısı 0 ise = READY, ≥ 1 ise = VALIDATION_REQUIRED</a:t>
            </a:r>
          </a:p>
          <a:p>
            <a:pPr algn="l">
              <a:lnSpc>
                <a:spcPts val="3983"/>
              </a:lnSpc>
              <a:spcBef>
                <a:spcPct val="0"/>
              </a:spcBef>
            </a:pPr>
            <a:endParaRPr lang="en-US" sz="2845">
              <a:solidFill>
                <a:srgbClr val="331B0D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55164" y="792377"/>
            <a:ext cx="9330053" cy="1245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Veri Modeli ve Deterministik Doğrulama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513</Words>
  <Application>Microsoft Office PowerPoint</Application>
  <PresentationFormat>Custom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Open Sauce</vt:lpstr>
      <vt:lpstr>Open Sauce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Beige and Brown Simple Minimalist Clean Final Project Presentation</dc:title>
  <cp:lastModifiedBy>Furkan Satır</cp:lastModifiedBy>
  <cp:revision>2</cp:revision>
  <dcterms:created xsi:type="dcterms:W3CDTF">2006-08-16T00:00:00Z</dcterms:created>
  <dcterms:modified xsi:type="dcterms:W3CDTF">2026-10-21T17:52:46Z</dcterms:modified>
  <dc:identifier>DAHYpe76HME</dc:identifier>
</cp:coreProperties>
</file>